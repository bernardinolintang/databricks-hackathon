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resale price</c:v>
                </c:pt>
              </c:strCache>
            </c:strRef>
          </c:tx>
          <c:spPr>
            <a:ln w="28575">
              <a:solidFill>
                <a:srgbClr val="FF3621"/>
              </a:solidFill>
            </a:ln>
          </c:spPr>
          <c:marker>
            <c:size val="5"/>
            <c:spPr>
              <a:solidFill>
                <a:srgbClr val="FF3621"/>
              </a:solidFill>
              <a:ln>
                <a:solidFill>
                  <a:srgbClr val="FF3621"/>
                </a:solidFill>
              </a:ln>
            </c:spPr>
          </c:marker>
          <c:dLbls>
            <c:dLbl>
              <c:idx val="8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F3621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100.0</c:v>
                </c:pt>
                <c:pt idx="1">
                  <c:v>99.5</c:v>
                </c:pt>
                <c:pt idx="2">
                  <c:v>97.6</c:v>
                </c:pt>
                <c:pt idx="3">
                  <c:v>103.7</c:v>
                </c:pt>
                <c:pt idx="4">
                  <c:v>117.8</c:v>
                </c:pt>
                <c:pt idx="5">
                  <c:v>128.0</c:v>
                </c:pt>
                <c:pt idx="6">
                  <c:v>134.1</c:v>
                </c:pt>
                <c:pt idx="7">
                  <c:v>143.9</c:v>
                </c:pt>
                <c:pt idx="8">
                  <c:v>153.2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household income</c:v>
                </c:pt>
              </c:strCache>
            </c:strRef>
          </c:tx>
          <c:spPr>
            <a:ln w="28575">
              <a:solidFill>
                <a:srgbClr val="6B7A84"/>
              </a:solidFill>
            </a:ln>
          </c:spPr>
          <c:marker>
            <c:size val="5"/>
            <c:spPr>
              <a:solidFill>
                <a:srgbClr val="6B7A84"/>
              </a:solidFill>
              <a:ln>
                <a:solidFill>
                  <a:srgbClr val="6B7A84"/>
                </a:solidFill>
              </a:ln>
            </c:spPr>
          </c:marker>
          <c:dLbls>
            <c:dLbl>
              <c:idx val="8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6B7A84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100.0</c:v>
                </c:pt>
                <c:pt idx="1">
                  <c:v>103.0</c:v>
                </c:pt>
                <c:pt idx="2">
                  <c:v>104.4</c:v>
                </c:pt>
                <c:pt idx="3">
                  <c:v>101.8</c:v>
                </c:pt>
                <c:pt idx="4">
                  <c:v>105.5</c:v>
                </c:pt>
                <c:pt idx="5">
                  <c:v>111.9</c:v>
                </c:pt>
                <c:pt idx="6">
                  <c:v>120.3</c:v>
                </c:pt>
                <c:pt idx="7">
                  <c:v>125.1</c:v>
                </c:pt>
                <c:pt idx="8">
                  <c:v>133.0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90.0"/>
        </c:scaling>
        <c:delete val="0"/>
        <c:axPos val="l"/>
        <c:majorGridlines>
          <c:spPr>
            <a:ln w="9525">
              <a:solidFill>
                <a:srgbClr val="D9DE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7A8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3621"/>
                </a:solidFill>
                <a:latin typeface="Arial"/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12530"/>
                </a:solidFill>
                <a:latin typeface="Arial"/>
              </a:rPr>
              <a:t>Problem &amp;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FlatFair · DAISI Challenge Singapore 2026 · Round 1 · Problem C1 · Live prototype: flatfair-nine.vercel.app</a:t>
            </a:r>
          </a:p>
        </p:txBody>
      </p:sp>
      <p:sp>
        <p:nvSpPr>
          <p:cNvPr id="7" name="Problem answers"/>
          <p:cNvSpPr txBox="1"/>
          <p:nvPr/>
        </p:nvSpPr>
        <p:spPr>
          <a:xfrm>
            <a:off x="731520" y="1783080"/>
            <a:ext cx="64465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Team name: </a:t>
            </a:r>
            <a:r>
              <a:rPr sz="1300" b="1">
                <a:solidFill>
                  <a:srgbClr val="FF3621"/>
                </a:solidFill>
                <a:latin typeface="Arial"/>
              </a:rPr>
              <a:t>‹Team name›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6B7A84"/>
                </a:solidFill>
                <a:latin typeface="Arial"/>
              </a:rPr>
              <a:t>Problem statement (e.g. A2 — Ageing in place): </a:t>
            </a:r>
            <a:r>
              <a:rPr sz="1300" b="1">
                <a:solidFill>
                  <a:srgbClr val="112530"/>
                </a:solidFill>
                <a:latin typeface="Arial"/>
              </a:rPr>
              <a:t>C1 — FlatFair: HDB resale market intelligence &amp; affordability forecasting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The problem in one sentence: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12530"/>
                </a:solidFill>
                <a:latin typeface="Arial"/>
              </a:rPr>
              <a:t>Young Singaporeans are making the biggest purchase of their lives in a market where HDB resale prices rose </a:t>
            </a:r>
            <a:r>
              <a:rPr sz="1300" b="1">
                <a:solidFill>
                  <a:srgbClr val="112530"/>
                </a:solidFill>
                <a:latin typeface="Arial"/>
              </a:rPr>
              <a:t>56% since 2017</a:t>
            </a:r>
            <a:r>
              <a:rPr sz="1300" b="0">
                <a:solidFill>
                  <a:srgbClr val="112530"/>
                </a:solidFill>
                <a:latin typeface="Arial"/>
              </a:rPr>
              <a:t> while household incomes rose </a:t>
            </a:r>
            <a:r>
              <a:rPr sz="1300" b="1">
                <a:solidFill>
                  <a:srgbClr val="112530"/>
                </a:solidFill>
                <a:latin typeface="Arial"/>
              </a:rPr>
              <a:t>33%</a:t>
            </a:r>
            <a:r>
              <a:rPr sz="1300" b="0">
                <a:solidFill>
                  <a:srgbClr val="112530"/>
                </a:solidFill>
                <a:latin typeface="Arial"/>
              </a:rPr>
              <a:t>, with no transparent way to judge whether an asking price, or the repayment behind it, is reasonable.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Who is affected, and how badly (use a number from open data):</a:t>
            </a:r>
          </a:p>
          <a:p>
            <a:pPr>
              <a:lnSpc>
                <a:spcPct val="108000"/>
              </a:lnSpc>
            </a:pPr>
            <a:r>
              <a:rPr sz="1300" b="1">
                <a:solidFill>
                  <a:srgbClr val="112530"/>
                </a:solidFill>
                <a:latin typeface="Arial"/>
              </a:rPr>
              <a:t>24,662 households</a:t>
            </a:r>
            <a:r>
              <a:rPr sz="1300" b="0">
                <a:solidFill>
                  <a:srgbClr val="112530"/>
                </a:solidFill>
                <a:latin typeface="Arial"/>
              </a:rPr>
              <a:t> bought a resale flat in the last 12 months; </a:t>
            </a:r>
            <a:r>
              <a:rPr sz="1300" b="1">
                <a:solidFill>
                  <a:srgbClr val="112530"/>
                </a:solidFill>
                <a:latin typeface="Arial"/>
              </a:rPr>
              <a:t>1,847</a:t>
            </a:r>
            <a:r>
              <a:rPr sz="1300" b="0">
                <a:solidFill>
                  <a:srgbClr val="112530"/>
                </a:solidFill>
                <a:latin typeface="Arial"/>
              </a:rPr>
              <a:t> of those flats sold for $1 million or more. A median 4-room flat now costs </a:t>
            </a:r>
            <a:r>
              <a:rPr sz="1300" b="1">
                <a:solidFill>
                  <a:srgbClr val="112530"/>
                </a:solidFill>
                <a:latin typeface="Arial"/>
              </a:rPr>
              <a:t>4.4 years</a:t>
            </a:r>
            <a:r>
              <a:rPr sz="1300" b="0">
                <a:solidFill>
                  <a:srgbClr val="112530"/>
                </a:solidFill>
                <a:latin typeface="Arial"/>
              </a:rPr>
              <a:t> of the median household’s income, up from 3.8 in 2017.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Why it matters now: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12530"/>
                </a:solidFill>
                <a:latin typeface="Arial"/>
              </a:rPr>
              <a:t>After a 50% climb since 2020, prices have flattened (</a:t>
            </a:r>
            <a:r>
              <a:rPr sz="1300" b="1">
                <a:solidFill>
                  <a:srgbClr val="112530"/>
                </a:solidFill>
                <a:latin typeface="Arial"/>
              </a:rPr>
              <a:t>+1.3% year on year</a:t>
            </a:r>
            <a:r>
              <a:rPr sz="1300" b="0">
                <a:solidFill>
                  <a:srgbClr val="112530"/>
                </a:solidFill>
                <a:latin typeface="Arial"/>
              </a:rPr>
              <a:t>), so rising values no longer cover an overpayment. Since August 2024 an HDB loan needs a </a:t>
            </a:r>
            <a:r>
              <a:rPr sz="1300" b="1">
                <a:solidFill>
                  <a:srgbClr val="112530"/>
                </a:solidFill>
                <a:latin typeface="Arial"/>
              </a:rPr>
              <a:t>25% downpayment</a:t>
            </a:r>
            <a:r>
              <a:rPr sz="1300" b="0">
                <a:solidFill>
                  <a:srgbClr val="112530"/>
                </a:solidFill>
                <a:latin typeface="Arial"/>
              </a:rPr>
              <a:t> instead of 20%, and the October 2024 Standard, Plus and Prime framework has reset expectations again.</a:t>
            </a:r>
          </a:p>
        </p:txBody>
      </p:sp>
      <p:sp>
        <p:nvSpPr>
          <p:cNvPr id="8" name="Chart title"/>
          <p:cNvSpPr txBox="1"/>
          <p:nvPr/>
        </p:nvSpPr>
        <p:spPr>
          <a:xfrm>
            <a:off x="7635240" y="17830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12530"/>
                </a:solidFill>
                <a:latin typeface="Arial"/>
              </a:rPr>
              <a:t>Prices have outrun incomes</a:t>
            </a:r>
          </a:p>
          <a:p>
            <a:r>
              <a:rPr sz="1100" b="0">
                <a:solidFill>
                  <a:srgbClr val="6B7A84"/>
                </a:solidFill>
                <a:latin typeface="Arial"/>
              </a:rPr>
              <a:t>Index, 2017 = 100</a:t>
            </a:r>
          </a:p>
        </p:txBody>
      </p:sp>
      <p:graphicFrame>
        <p:nvGraphicFramePr>
          <p:cNvPr id="9" name="Price vs income chart"/>
          <p:cNvGraphicFramePr>
            <a:graphicFrameLocks noGrp="1"/>
          </p:cNvGraphicFramePr>
          <p:nvPr/>
        </p:nvGraphicFramePr>
        <p:xfrm>
          <a:off x="7498079" y="2377440"/>
          <a:ext cx="402336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hart source"/>
          <p:cNvSpPr txBox="1"/>
          <p:nvPr/>
        </p:nvSpPr>
        <p:spPr>
          <a:xfrm>
            <a:off x="7635240" y="5623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A84"/>
                </a:solidFill>
                <a:latin typeface="Arial"/>
              </a:rPr>
              <a:t>Annual medians. Sources: HDB resale flat prices (data.gov.sg); SingStat M810361 median monthly household employment income.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3621"/>
                </a:solidFill>
                <a:latin typeface="Arial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12530"/>
                </a:solidFill>
                <a:latin typeface="Arial"/>
              </a:rPr>
              <a:t>Solution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FlatFair · DAISI Challenge Singapore 2026 · Round 1 · Problem C1 · Live prototype: flatfair-nine.vercel.app</a:t>
            </a:r>
          </a:p>
        </p:txBody>
      </p:sp>
      <p:sp>
        <p:nvSpPr>
          <p:cNvPr id="7" name="Solution answers"/>
          <p:cNvSpPr txBox="1"/>
          <p:nvPr/>
        </p:nvSpPr>
        <p:spPr>
          <a:xfrm>
            <a:off x="731520" y="1783080"/>
            <a:ext cx="6446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Your solution in one sentence: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12530"/>
                </a:solidFill>
                <a:latin typeface="Arial"/>
              </a:rPr>
              <a:t>FlatFair turns HDB’s resale records into a five-step decision tool that takes a buyer from </a:t>
            </a:r>
            <a:r>
              <a:rPr sz="1300" b="1">
                <a:solidFill>
                  <a:srgbClr val="112530"/>
                </a:solidFill>
                <a:latin typeface="Arial"/>
              </a:rPr>
              <a:t>“what is the market doing?”</a:t>
            </a:r>
            <a:r>
              <a:rPr sz="1300" b="0">
                <a:solidFill>
                  <a:srgbClr val="112530"/>
                </a:solidFill>
                <a:latin typeface="Arial"/>
              </a:rPr>
              <a:t> to </a:t>
            </a:r>
            <a:r>
              <a:rPr sz="1300" b="1">
                <a:solidFill>
                  <a:srgbClr val="112530"/>
                </a:solidFill>
                <a:latin typeface="Arial"/>
              </a:rPr>
              <a:t>“is this flat, at this price, sensible for us?”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Who uses it, and what decision it changes: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12530"/>
                </a:solidFill>
                <a:latin typeface="Arial"/>
              </a:rPr>
              <a:t>First-time resale buyers, and the counsellors and planners who advise them. It changes </a:t>
            </a:r>
            <a:r>
              <a:rPr sz="1300" b="1">
                <a:solidFill>
                  <a:srgbClr val="112530"/>
                </a:solidFill>
                <a:latin typeface="Arial"/>
              </a:rPr>
              <a:t>where they look</a:t>
            </a:r>
            <a:r>
              <a:rPr sz="1300" b="0">
                <a:solidFill>
                  <a:srgbClr val="112530"/>
                </a:solidFill>
                <a:latin typeface="Arial"/>
              </a:rPr>
              <a:t> (towns ranked by what the household can repay), </a:t>
            </a:r>
            <a:r>
              <a:rPr sz="1300" b="1">
                <a:solidFill>
                  <a:srgbClr val="112530"/>
                </a:solidFill>
                <a:latin typeface="Arial"/>
              </a:rPr>
              <a:t>what they offer</a:t>
            </a:r>
            <a:r>
              <a:rPr sz="1300" b="0">
                <a:solidFill>
                  <a:srgbClr val="112530"/>
                </a:solidFill>
                <a:latin typeface="Arial"/>
              </a:rPr>
              <a:t> (asking price vs estimated value and the 5 closest sales) and </a:t>
            </a:r>
            <a:r>
              <a:rPr sz="1300" b="1">
                <a:solidFill>
                  <a:srgbClr val="112530"/>
                </a:solidFill>
                <a:latin typeface="Arial"/>
              </a:rPr>
              <a:t>when they buy</a:t>
            </a:r>
            <a:r>
              <a:rPr sz="1300" b="0">
                <a:solidFill>
                  <a:srgbClr val="112530"/>
                </a:solidFill>
                <a:latin typeface="Arial"/>
              </a:rPr>
              <a:t> (a tested six-month outlook).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Datasets you will use (name + source, e.g. data.gov.sg):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B7A84"/>
                </a:solidFill>
                <a:latin typeface="Arial"/>
              </a:rPr>
              <a:t>1.  </a:t>
            </a:r>
            <a:r>
              <a:rPr sz="1200" b="1">
                <a:solidFill>
                  <a:srgbClr val="112530"/>
                </a:solidFill>
                <a:latin typeface="Arial"/>
              </a:rPr>
              <a:t>HDB Resale Flat Prices, Jan 2017 to present</a:t>
            </a:r>
            <a:r>
              <a:rPr sz="1200" b="0">
                <a:solidFill>
                  <a:srgbClr val="112530"/>
                </a:solidFill>
                <a:latin typeface="Arial"/>
              </a:rPr>
              <a:t> — data.gov.sg d_8b84c4ee…6abc, 241,822 sales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B7A84"/>
                </a:solidFill>
                <a:latin typeface="Arial"/>
              </a:rPr>
              <a:t>2.  </a:t>
            </a:r>
            <a:r>
              <a:rPr sz="1200" b="1">
                <a:solidFill>
                  <a:srgbClr val="112530"/>
                </a:solidFill>
                <a:latin typeface="Arial"/>
              </a:rPr>
              <a:t>Household Employment Income, key indicators (M810361)</a:t>
            </a:r>
            <a:r>
              <a:rPr sz="1200" b="0">
                <a:solidFill>
                  <a:srgbClr val="112530"/>
                </a:solidFill>
                <a:latin typeface="Arial"/>
              </a:rPr>
              <a:t> — SingStat Table Builder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B7A84"/>
                </a:solidFill>
                <a:latin typeface="Arial"/>
              </a:rPr>
              <a:t>3.  </a:t>
            </a:r>
            <a:r>
              <a:rPr sz="1200" b="1">
                <a:solidFill>
                  <a:srgbClr val="112530"/>
                </a:solidFill>
                <a:latin typeface="Arial"/>
              </a:rPr>
              <a:t>HDB Annual Report 2025 · Population by Planning Area</a:t>
            </a:r>
            <a:r>
              <a:rPr sz="1200" b="0">
                <a:solidFill>
                  <a:srgbClr val="112530"/>
                </a:solidFill>
                <a:latin typeface="Arial"/>
              </a:rPr>
              <a:t> — HDB, SingStat (supply and demand context)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What makes your approach different from a generic dashboard: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12530"/>
                </a:solidFill>
                <a:latin typeface="Arial"/>
              </a:rPr>
              <a:t>It values a specific flat, not just the market: an 80% price range tested on </a:t>
            </a:r>
            <a:r>
              <a:rPr sz="1300" b="1">
                <a:solidFill>
                  <a:srgbClr val="112530"/>
                </a:solidFill>
                <a:latin typeface="Arial"/>
              </a:rPr>
              <a:t>13,589 sales it never saw</a:t>
            </a:r>
            <a:r>
              <a:rPr sz="1300" b="0">
                <a:solidFill>
                  <a:srgbClr val="112530"/>
                </a:solidFill>
                <a:latin typeface="Arial"/>
              </a:rPr>
              <a:t> (median error </a:t>
            </a:r>
            <a:r>
              <a:rPr sz="1300" b="1">
                <a:solidFill>
                  <a:srgbClr val="112530"/>
                </a:solidFill>
                <a:latin typeface="Arial"/>
              </a:rPr>
              <a:t>3.9%</a:t>
            </a:r>
            <a:r>
              <a:rPr sz="1300" b="0">
                <a:solidFill>
                  <a:srgbClr val="112530"/>
                </a:solidFill>
                <a:latin typeface="Arial"/>
              </a:rPr>
              <a:t> vs 9.5% for the $/sqm rule of thumb), plus repayment against the 30% MSR cap. Every model must beat a simple baseline: when a 3-month average out-forecast our ML model, we published the average.</a:t>
            </a:r>
          </a:p>
        </p:txBody>
      </p:sp>
      <p:pic>
        <p:nvPicPr>
          <p:cNvPr id="8" name="Fair value screenshot" descr="valu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783080"/>
            <a:ext cx="3639312" cy="3657600"/>
          </a:xfrm>
          <a:prstGeom prst="rect">
            <a:avLst/>
          </a:prstGeom>
          <a:ln w="9525">
            <a:solidFill>
              <a:srgbClr val="D9DEE3"/>
            </a:solidFill>
          </a:ln>
        </p:spPr>
      </p:pic>
      <p:sp>
        <p:nvSpPr>
          <p:cNvPr id="9" name="Screenshot caption"/>
          <p:cNvSpPr txBox="1"/>
          <p:nvPr/>
        </p:nvSpPr>
        <p:spPr>
          <a:xfrm>
            <a:off x="7726679" y="55504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12530"/>
                </a:solidFill>
                <a:latin typeface="Arial"/>
              </a:rPr>
              <a:t>Working prototype: </a:t>
            </a:r>
            <a:r>
              <a:rPr sz="1000" b="0">
                <a:solidFill>
                  <a:srgbClr val="6B7A84"/>
                </a:solidFill>
                <a:latin typeface="Arial"/>
              </a:rPr>
              <a:t>a Tampines 4-room asking $690,000 sits within the expected $612k–$710k range. flatfair-nine.vercel.app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3621"/>
                </a:solidFill>
                <a:latin typeface="Arial"/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12530"/>
                </a:solidFill>
                <a:latin typeface="Arial"/>
              </a:rPr>
              <a:t>Databricks architecture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FlatFair · DAISI Challenge Singapore 2026 · Round 1 · Problem C1 · Live prototype: flatfair-nine.vercel.app</a:t>
            </a:r>
          </a:p>
        </p:txBody>
      </p:sp>
      <p:sp>
        <p:nvSpPr>
          <p:cNvPr id="7" name="Pipeline label"/>
          <p:cNvSpPr txBox="1"/>
          <p:nvPr/>
        </p:nvSpPr>
        <p:spPr>
          <a:xfrm>
            <a:off x="731520" y="178308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A84"/>
                </a:solidFill>
                <a:latin typeface="Arial"/>
              </a:rPr>
              <a:t>Pipeline: source → ingestion → transform → model / analytics → output</a:t>
            </a:r>
          </a:p>
        </p:txBody>
      </p:sp>
      <p:sp>
        <p:nvSpPr>
          <p:cNvPr id="8" name="Pipeline 1 Source"/>
          <p:cNvSpPr/>
          <p:nvPr/>
        </p:nvSpPr>
        <p:spPr>
          <a:xfrm>
            <a:off x="731520" y="2148840"/>
            <a:ext cx="1914753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73152"/>
          <a:lstStyle/>
          <a:p>
            <a:pPr algn="l"/>
            <a:r>
              <a:rPr sz="1100" b="1">
                <a:solidFill>
                  <a:srgbClr val="FF3621"/>
                </a:solidFill>
                <a:latin typeface="Arial"/>
              </a:rPr>
              <a:t>1  </a:t>
            </a:r>
            <a:r>
              <a:rPr sz="1200" b="1">
                <a:solidFill>
                  <a:srgbClr val="112530"/>
                </a:solidFill>
                <a:latin typeface="Arial"/>
              </a:rPr>
              <a:t>Source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data.gov.sg API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SingStat Table Builder API</a:t>
            </a:r>
          </a:p>
        </p:txBody>
      </p:sp>
      <p:sp>
        <p:nvSpPr>
          <p:cNvPr id="9" name="Arrow 1"/>
          <p:cNvSpPr/>
          <p:nvPr/>
        </p:nvSpPr>
        <p:spPr>
          <a:xfrm>
            <a:off x="2710281" y="2670048"/>
            <a:ext cx="164592" cy="164592"/>
          </a:xfrm>
          <a:prstGeom prst="rightArrow">
            <a:avLst/>
          </a:prstGeom>
          <a:solidFill>
            <a:srgbClr val="6B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peline 2 Ingestion"/>
          <p:cNvSpPr/>
          <p:nvPr/>
        </p:nvSpPr>
        <p:spPr>
          <a:xfrm>
            <a:off x="2938881" y="2148840"/>
            <a:ext cx="1914753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73152"/>
          <a:lstStyle/>
          <a:p>
            <a:pPr algn="l"/>
            <a:r>
              <a:rPr sz="1100" b="1">
                <a:solidFill>
                  <a:srgbClr val="FF3621"/>
                </a:solidFill>
                <a:latin typeface="Arial"/>
              </a:rPr>
              <a:t>2  </a:t>
            </a:r>
            <a:r>
              <a:rPr sz="1200" b="1">
                <a:solidFill>
                  <a:srgbClr val="112530"/>
                </a:solidFill>
                <a:latin typeface="Arial"/>
              </a:rPr>
              <a:t>Ingestion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Lakeflow Job runs notebooks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retries · schema check → Bronze Delta</a:t>
            </a:r>
          </a:p>
        </p:txBody>
      </p:sp>
      <p:sp>
        <p:nvSpPr>
          <p:cNvPr id="11" name="Arrow 2"/>
          <p:cNvSpPr/>
          <p:nvPr/>
        </p:nvSpPr>
        <p:spPr>
          <a:xfrm>
            <a:off x="4917642" y="2670048"/>
            <a:ext cx="164592" cy="164592"/>
          </a:xfrm>
          <a:prstGeom prst="rightArrow">
            <a:avLst/>
          </a:prstGeom>
          <a:solidFill>
            <a:srgbClr val="6B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peline 3 Transform"/>
          <p:cNvSpPr/>
          <p:nvPr/>
        </p:nvSpPr>
        <p:spPr>
          <a:xfrm>
            <a:off x="5146242" y="2148840"/>
            <a:ext cx="1914753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73152"/>
          <a:lstStyle/>
          <a:p>
            <a:pPr algn="l"/>
            <a:r>
              <a:rPr sz="1100" b="1">
                <a:solidFill>
                  <a:srgbClr val="FF3621"/>
                </a:solidFill>
                <a:latin typeface="Arial"/>
              </a:rPr>
              <a:t>3  </a:t>
            </a:r>
            <a:r>
              <a:rPr sz="1200" b="1">
                <a:solidFill>
                  <a:srgbClr val="112530"/>
                </a:solidFill>
                <a:latin typeface="Arial"/>
              </a:rPr>
              <a:t>Transform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Silver &amp; Gold Delta in Unity Catalog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9 quality checks · flags, not deletes</a:t>
            </a:r>
          </a:p>
        </p:txBody>
      </p:sp>
      <p:sp>
        <p:nvSpPr>
          <p:cNvPr id="13" name="Arrow 3"/>
          <p:cNvSpPr/>
          <p:nvPr/>
        </p:nvSpPr>
        <p:spPr>
          <a:xfrm>
            <a:off x="7125003" y="2670048"/>
            <a:ext cx="164592" cy="164592"/>
          </a:xfrm>
          <a:prstGeom prst="rightArrow">
            <a:avLst/>
          </a:prstGeom>
          <a:solidFill>
            <a:srgbClr val="6B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peline 4 Model / analytics"/>
          <p:cNvSpPr/>
          <p:nvPr/>
        </p:nvSpPr>
        <p:spPr>
          <a:xfrm>
            <a:off x="7353603" y="2148840"/>
            <a:ext cx="1914753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73152"/>
          <a:lstStyle/>
          <a:p>
            <a:pPr algn="l"/>
            <a:r>
              <a:rPr sz="1100" b="1">
                <a:solidFill>
                  <a:srgbClr val="FF3621"/>
                </a:solidFill>
                <a:latin typeface="Arial"/>
              </a:rPr>
              <a:t>4  </a:t>
            </a:r>
            <a:r>
              <a:rPr sz="1200" b="1">
                <a:solidFill>
                  <a:srgbClr val="112530"/>
                </a:solidFill>
                <a:latin typeface="Arial"/>
              </a:rPr>
              <a:t>Model / analytics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MLflow: forecast backtest, fair value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model → UC registry · SQL / Genie</a:t>
            </a:r>
          </a:p>
        </p:txBody>
      </p:sp>
      <p:sp>
        <p:nvSpPr>
          <p:cNvPr id="15" name="Arrow 4"/>
          <p:cNvSpPr/>
          <p:nvPr/>
        </p:nvSpPr>
        <p:spPr>
          <a:xfrm>
            <a:off x="9332364" y="2670048"/>
            <a:ext cx="164592" cy="164592"/>
          </a:xfrm>
          <a:prstGeom prst="rightArrow">
            <a:avLst/>
          </a:prstGeom>
          <a:solidFill>
            <a:srgbClr val="6B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peline 5 Output"/>
          <p:cNvSpPr/>
          <p:nvPr/>
        </p:nvSpPr>
        <p:spPr>
          <a:xfrm>
            <a:off x="9560964" y="2148840"/>
            <a:ext cx="1914753" cy="12070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73152"/>
          <a:lstStyle/>
          <a:p>
            <a:pPr algn="l"/>
            <a:r>
              <a:rPr sz="1100" b="1">
                <a:solidFill>
                  <a:srgbClr val="FF3621"/>
                </a:solidFill>
                <a:latin typeface="Arial"/>
              </a:rPr>
              <a:t>5  </a:t>
            </a:r>
            <a:r>
              <a:rPr sz="1200" b="1">
                <a:solidFill>
                  <a:srgbClr val="112530"/>
                </a:solidFill>
                <a:latin typeface="Arial"/>
              </a:rPr>
              <a:t>Output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Databricks App (FastAPI + JS)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12530"/>
                </a:solidFill>
                <a:latin typeface="Arial"/>
              </a:rPr>
              <a:t>public mirror on Vercel</a:t>
            </a:r>
          </a:p>
        </p:txBody>
      </p:sp>
      <p:sp>
        <p:nvSpPr>
          <p:cNvPr id="17" name="Components"/>
          <p:cNvSpPr txBox="1"/>
          <p:nvPr/>
        </p:nvSpPr>
        <p:spPr>
          <a:xfrm>
            <a:off x="731520" y="347472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A84"/>
                </a:solidFill>
                <a:latin typeface="Arial"/>
              </a:rPr>
              <a:t>(Name the Databricks components) </a:t>
            </a:r>
            <a:r>
              <a:rPr sz="1200" b="1">
                <a:solidFill>
                  <a:srgbClr val="112530"/>
                </a:solidFill>
                <a:latin typeface="Arial"/>
              </a:rPr>
              <a:t>Lakeflow Jobs · Delta Lake · Unity Catalog (lineage, tags, model registry) · MLflow · Databricks SQL / AI-BI · Genie · Databricks Apps</a:t>
            </a:r>
          </a:p>
        </p:txBody>
      </p:sp>
      <p:sp>
        <p:nvSpPr>
          <p:cNvPr id="18" name="Impact column 1"/>
          <p:cNvSpPr txBox="1"/>
          <p:nvPr/>
        </p:nvSpPr>
        <p:spPr>
          <a:xfrm>
            <a:off x="731520" y="3977639"/>
            <a:ext cx="3368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The user-facing output you will demo:</a:t>
            </a:r>
          </a:p>
          <a:p>
            <a:pPr>
              <a:lnSpc>
                <a:spcPct val="108000"/>
              </a:lnSpc>
            </a:pPr>
            <a:r>
              <a:rPr sz="1300" b="1">
                <a:solidFill>
                  <a:srgbClr val="112530"/>
                </a:solidFill>
                <a:latin typeface="Arial"/>
              </a:rPr>
              <a:t>The FlatFair app: </a:t>
            </a:r>
            <a:r>
              <a:rPr sz="1300" b="0">
                <a:solidFill>
                  <a:srgbClr val="112530"/>
                </a:solidFill>
                <a:latin typeface="Arial"/>
              </a:rPr>
              <a:t>market explorer, six-month forecast with its range, affordability with “Where can I afford?”, fair value with comparable sales, and town comparison. </a:t>
            </a:r>
            <a:r>
              <a:rPr sz="1300" b="1">
                <a:solidFill>
                  <a:srgbClr val="112530"/>
                </a:solidFill>
                <a:latin typeface="Arial"/>
              </a:rPr>
              <a:t>Already working end to end.</a:t>
            </a:r>
          </a:p>
        </p:txBody>
      </p:sp>
      <p:sp>
        <p:nvSpPr>
          <p:cNvPr id="19" name="Impact column 2"/>
          <p:cNvSpPr txBox="1"/>
          <p:nvPr/>
        </p:nvSpPr>
        <p:spPr>
          <a:xfrm>
            <a:off x="4419600" y="3977639"/>
            <a:ext cx="3368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Measurable impact if it worked:</a:t>
            </a:r>
          </a:p>
          <a:p>
            <a:pPr>
              <a:lnSpc>
                <a:spcPct val="108000"/>
              </a:lnSpc>
            </a:pPr>
            <a:r>
              <a:rPr sz="1300" b="0">
                <a:solidFill>
                  <a:srgbClr val="112530"/>
                </a:solidFill>
                <a:latin typeface="Arial"/>
              </a:rPr>
              <a:t>On a typical $630k flat the pricing blind spot narrows from </a:t>
            </a:r>
            <a:r>
              <a:rPr sz="1300" b="1">
                <a:solidFill>
                  <a:srgbClr val="112530"/>
                </a:solidFill>
                <a:latin typeface="Arial"/>
              </a:rPr>
              <a:t>~$60k to ~$25k</a:t>
            </a:r>
            <a:r>
              <a:rPr sz="1300" b="0">
                <a:solidFill>
                  <a:srgbClr val="112530"/>
                </a:solidFill>
                <a:latin typeface="Arial"/>
              </a:rPr>
              <a:t> (rule-of-thumb vs model median error). Every buyer sees repayment against the 30% MSR cap before committing, refreshed monthly from open data.</a:t>
            </a:r>
          </a:p>
        </p:txBody>
      </p:sp>
      <p:sp>
        <p:nvSpPr>
          <p:cNvPr id="20" name="Impact column 3"/>
          <p:cNvSpPr txBox="1"/>
          <p:nvPr/>
        </p:nvSpPr>
        <p:spPr>
          <a:xfrm>
            <a:off x="8107680" y="3977639"/>
            <a:ext cx="3368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A84"/>
                </a:solidFill>
                <a:latin typeface="Arial"/>
              </a:rPr>
              <a:t>What you can realistically finish in the two-week sprint:</a:t>
            </a:r>
          </a:p>
          <a:p>
            <a:pPr>
              <a:lnSpc>
                <a:spcPct val="108000"/>
              </a:lnSpc>
            </a:pPr>
            <a:r>
              <a:rPr sz="1300" b="1">
                <a:solidFill>
                  <a:srgbClr val="112530"/>
                </a:solidFill>
                <a:latin typeface="Arial"/>
              </a:rPr>
              <a:t>Pipeline, both models, the app and 66 tests are built. </a:t>
            </a:r>
            <a:r>
              <a:rPr sz="1300" b="0">
                <a:solidFill>
                  <a:srgbClr val="112530"/>
                </a:solidFill>
                <a:latin typeface="Arial"/>
              </a:rPr>
              <a:t>Sprint: run it as a Lakeflow Job in the final workspace, deploy on Databricks Apps, add a Genie space and dashboard, test with five first-time buyers.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FlatFair — DAISI 2026 Round 1</dc:title>
  <dc:subject>Problem C1: HDB resale market intelligence and affordability forecasting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